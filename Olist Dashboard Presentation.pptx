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66" r:id="rId2"/>
    <p:sldId id="269" r:id="rId3"/>
    <p:sldId id="267" r:id="rId4"/>
    <p:sldId id="268" r:id="rId5"/>
    <p:sldId id="270" r:id="rId6"/>
    <p:sldId id="272" r:id="rId7"/>
    <p:sldId id="273" r:id="rId8"/>
    <p:sldId id="274" r:id="rId9"/>
    <p:sldId id="275" r:id="rId10"/>
    <p:sldId id="277" r:id="rId11"/>
  </p:sldIdLst>
  <p:sldSz cx="12192000" cy="6858000"/>
  <p:notesSz cx="6858000" cy="9144000"/>
  <p:embeddedFontLs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  <a:srgbClr val="C4AC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548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55864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83F188D-83D2-DC31-51C3-77870466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2B90677-89E7-B952-09F1-8B9DEB797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C8D194-7947-C0A2-E930-85E203309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8520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722DBDE-33A4-66D5-5BC4-5B9790B7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D28E857-B07C-3187-37D5-D3AD5F2A6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0AC3D71-5CA1-076D-C07A-5F8133383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4312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681D0BD-857C-7F8A-CD90-47ECD12D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CAF69EA-2DA0-182F-39DC-6542922A2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8F8E4F2-8891-8AE8-EA87-49D178929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06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70AB97C-4B9C-16E9-D2E6-FFB71A72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D516FF5-1382-08A9-49B5-8419C62E7F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CECE5EC-D41D-20C2-9D45-6A613499F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6017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A989DDE-1C8C-36CC-CBD2-14961EE4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E6B288F-1432-567D-5530-1C0546B8E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1A36248-1059-15D1-64AF-4AE356C5B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7991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770382D-6E76-D31D-A08A-5D061459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DE39AE9-DE4C-E9F8-166C-29160F398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BB0CFA3-D0F8-5A37-775E-1057F56AD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42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9082DB1-6738-D3A0-C532-30B4D9D1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1650462-3E63-D25C-D81C-CA563BC86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1E90D27-1997-BCDF-B6B4-306022F9E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123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C51301-D49B-960C-414C-89ED7BD6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8EAABFA-CCBD-EFD8-41E1-733F0ED47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41C98A2-B7B1-E19F-CE23-3D2F26DAC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240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2E7FE4E-DA61-F1FB-06BB-EA89EEB1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B98FCC9-436A-1A33-CFFB-157E14E0D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161EC1C-883A-166E-3EA9-C2A52C9F0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6138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C51301-D49B-960C-414C-89ED7BD6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8EAABFA-CCBD-EFD8-41E1-733F0ED47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41C98A2-B7B1-E19F-CE23-3D2F26DAC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334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18.png"/><Relationship Id="rId40" Type="http://schemas.openxmlformats.org/officeDocument/2006/relationships/image" Target="../media/image38.sv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13.png"/><Relationship Id="rId30" Type="http://schemas.openxmlformats.org/officeDocument/2006/relationships/image" Target="../media/image28.svg"/><Relationship Id="rId35" Type="http://schemas.openxmlformats.org/officeDocument/2006/relationships/image" Target="../media/image17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image" Target="../media/image3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61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286A6D9-79CC-74BF-FAE9-5F2DD55B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B01D2-4170-3D9F-1227-483067E7521F}"/>
              </a:ext>
            </a:extLst>
          </p:cNvPr>
          <p:cNvGrpSpPr/>
          <p:nvPr/>
        </p:nvGrpSpPr>
        <p:grpSpPr>
          <a:xfrm>
            <a:off x="1200789" y="2233292"/>
            <a:ext cx="10074601" cy="10690447"/>
            <a:chOff x="1126988" y="2143588"/>
            <a:chExt cx="10074601" cy="1069044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9D5F600-4AE6-32B5-F593-5F505CA0D77A}"/>
                </a:ext>
              </a:extLst>
            </p:cNvPr>
            <p:cNvGrpSpPr/>
            <p:nvPr/>
          </p:nvGrpSpPr>
          <p:grpSpPr>
            <a:xfrm rot="5400000">
              <a:off x="819065" y="2451511"/>
              <a:ext cx="10690447" cy="10074601"/>
              <a:chOff x="-337271" y="1122177"/>
              <a:chExt cx="5213828" cy="4916874"/>
            </a:xfrm>
          </p:grpSpPr>
          <p:sp>
            <p:nvSpPr>
              <p:cNvPr id="3" name="Teardrop 2">
                <a:extLst>
                  <a:ext uri="{FF2B5EF4-FFF2-40B4-BE49-F238E27FC236}">
                    <a16:creationId xmlns:a16="http://schemas.microsoft.com/office/drawing/2014/main" id="{07A376BD-C925-BAF1-3A7A-61E965999422}"/>
                  </a:ext>
                </a:extLst>
              </p:cNvPr>
              <p:cNvSpPr/>
              <p:nvPr/>
            </p:nvSpPr>
            <p:spPr>
              <a:xfrm rot="7842137">
                <a:off x="1143342" y="1137917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4"/>
                  </a:solidFill>
                </a:endParaRPr>
              </a:p>
            </p:txBody>
          </p:sp>
          <p:sp>
            <p:nvSpPr>
              <p:cNvPr id="9" name="Teardrop 8">
                <a:extLst>
                  <a:ext uri="{FF2B5EF4-FFF2-40B4-BE49-F238E27FC236}">
                    <a16:creationId xmlns:a16="http://schemas.microsoft.com/office/drawing/2014/main" id="{5DEB82A0-2502-3384-A915-7440BAF0D72B}"/>
                  </a:ext>
                </a:extLst>
              </p:cNvPr>
              <p:cNvSpPr/>
              <p:nvPr/>
            </p:nvSpPr>
            <p:spPr>
              <a:xfrm rot="18671431">
                <a:off x="1337717" y="4026552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ardrop 9">
                <a:extLst>
                  <a:ext uri="{FF2B5EF4-FFF2-40B4-BE49-F238E27FC236}">
                    <a16:creationId xmlns:a16="http://schemas.microsoft.com/office/drawing/2014/main" id="{0C07A617-7D5B-74D2-D0CD-3471F69854E7}"/>
                  </a:ext>
                </a:extLst>
              </p:cNvPr>
              <p:cNvSpPr/>
              <p:nvPr/>
            </p:nvSpPr>
            <p:spPr>
              <a:xfrm rot="13247941">
                <a:off x="2742597" y="2379539"/>
                <a:ext cx="2133960" cy="2162684"/>
              </a:xfrm>
              <a:prstGeom prst="teardrop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Teardrop 10">
                <a:extLst>
                  <a:ext uri="{FF2B5EF4-FFF2-40B4-BE49-F238E27FC236}">
                    <a16:creationId xmlns:a16="http://schemas.microsoft.com/office/drawing/2014/main" id="{47AC7767-2707-793A-C652-A1C086C1CBF3}"/>
                  </a:ext>
                </a:extLst>
              </p:cNvPr>
              <p:cNvSpPr/>
              <p:nvPr/>
            </p:nvSpPr>
            <p:spPr>
              <a:xfrm rot="2425688">
                <a:off x="-337271" y="2627365"/>
                <a:ext cx="2156787" cy="2111733"/>
              </a:xfrm>
              <a:prstGeom prst="teardrop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CA26D0-D342-4741-84BB-FBBF50EBA5CF}"/>
                </a:ext>
              </a:extLst>
            </p:cNvPr>
            <p:cNvSpPr/>
            <p:nvPr/>
          </p:nvSpPr>
          <p:spPr>
            <a:xfrm>
              <a:off x="5412508" y="6580910"/>
              <a:ext cx="1376219" cy="1343890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4821CA3-8357-D0BC-5ED2-66EAFC39A57B}"/>
              </a:ext>
            </a:extLst>
          </p:cNvPr>
          <p:cNvSpPr txBox="1"/>
          <p:nvPr/>
        </p:nvSpPr>
        <p:spPr>
          <a:xfrm>
            <a:off x="3899159" y="3434892"/>
            <a:ext cx="42168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list E-commerce           Analysis</a:t>
            </a:r>
          </a:p>
          <a:p>
            <a:endParaRPr lang="en-US" sz="4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By  group-2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raphic 16" descr="Shopping bag">
            <a:extLst>
              <a:ext uri="{FF2B5EF4-FFF2-40B4-BE49-F238E27FC236}">
                <a16:creationId xmlns:a16="http://schemas.microsoft.com/office/drawing/2014/main" id="{1A77AF04-A4BF-806A-048A-8FF56FED4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142955" y="2590059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19" name="Graphic 18" descr="Shopping basket">
            <a:extLst>
              <a:ext uri="{FF2B5EF4-FFF2-40B4-BE49-F238E27FC236}">
                <a16:creationId xmlns:a16="http://schemas.microsoft.com/office/drawing/2014/main" id="{7D835635-6BE6-D7EB-C086-BA46D3478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19205780">
            <a:off x="11090778" y="-29773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23" name="Graphic 22" descr="Rupee">
            <a:extLst>
              <a:ext uri="{FF2B5EF4-FFF2-40B4-BE49-F238E27FC236}">
                <a16:creationId xmlns:a16="http://schemas.microsoft.com/office/drawing/2014/main" id="{917A9703-75A1-CA04-FE72-4952575A27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 rot="1172534">
            <a:off x="1925172" y="2525155"/>
            <a:ext cx="914400" cy="914400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  <p:pic>
        <p:nvPicPr>
          <p:cNvPr id="25" name="Graphic 24" descr="Pound">
            <a:extLst>
              <a:ext uri="{FF2B5EF4-FFF2-40B4-BE49-F238E27FC236}">
                <a16:creationId xmlns:a16="http://schemas.microsoft.com/office/drawing/2014/main" id="{DE0F76EC-81A2-D262-6F6F-7A7F15FC83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 rot="20297609">
            <a:off x="7170954" y="659923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33" name="Graphic 32" descr="Money">
            <a:extLst>
              <a:ext uri="{FF2B5EF4-FFF2-40B4-BE49-F238E27FC236}">
                <a16:creationId xmlns:a16="http://schemas.microsoft.com/office/drawing/2014/main" id="{7F1CE79D-902D-607E-4F36-3250D48B44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963740" y="2840149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35" name="Graphic 34" descr="Diamond">
            <a:extLst>
              <a:ext uri="{FF2B5EF4-FFF2-40B4-BE49-F238E27FC236}">
                <a16:creationId xmlns:a16="http://schemas.microsoft.com/office/drawing/2014/main" id="{9365DA3F-CC7D-0A15-E34E-10706A2BE4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 rot="21327535">
            <a:off x="11135558" y="4881094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45" name="Graphic 44" descr="Tag">
            <a:extLst>
              <a:ext uri="{FF2B5EF4-FFF2-40B4-BE49-F238E27FC236}">
                <a16:creationId xmlns:a16="http://schemas.microsoft.com/office/drawing/2014/main" id="{EB762FC9-E412-D917-A561-EEE73162C21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 rot="17338722">
            <a:off x="9052693" y="4352709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51" name="Graphic 50" descr="Send">
            <a:extLst>
              <a:ext uri="{FF2B5EF4-FFF2-40B4-BE49-F238E27FC236}">
                <a16:creationId xmlns:a16="http://schemas.microsoft.com/office/drawing/2014/main" id="{9EFC4FF8-BB8C-563E-115D-1CB7A6849D2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8339720" y="2245940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55" name="Graphic 54" descr="Clock">
            <a:extLst>
              <a:ext uri="{FF2B5EF4-FFF2-40B4-BE49-F238E27FC236}">
                <a16:creationId xmlns:a16="http://schemas.microsoft.com/office/drawing/2014/main" id="{E3908512-EB15-2DF5-E040-7341DFD4C4E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 rot="20411375">
            <a:off x="1928202" y="4845256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2" name="Graphic 61" descr="Credit card">
            <a:extLst>
              <a:ext uri="{FF2B5EF4-FFF2-40B4-BE49-F238E27FC236}">
                <a16:creationId xmlns:a16="http://schemas.microsoft.com/office/drawing/2014/main" id="{9056179C-73F0-6CC0-7294-0EFAAB127AD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3475085" y="1021148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3" name="Graphic 62" descr="Coins">
            <a:extLst>
              <a:ext uri="{FF2B5EF4-FFF2-40B4-BE49-F238E27FC236}">
                <a16:creationId xmlns:a16="http://schemas.microsoft.com/office/drawing/2014/main" id="{40D95B3B-F639-110C-B88D-F14478F7888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>
            <a:off x="152074" y="4977827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4" name="Graphic 63" descr="Marketing">
            <a:extLst>
              <a:ext uri="{FF2B5EF4-FFF2-40B4-BE49-F238E27FC236}">
                <a16:creationId xmlns:a16="http://schemas.microsoft.com/office/drawing/2014/main" id="{2E91B525-0964-B986-B568-8CA1EFF1B14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26"/>
              </a:ext>
            </a:extLst>
          </a:blip>
          <a:stretch>
            <a:fillRect/>
          </a:stretch>
        </p:blipFill>
        <p:spPr>
          <a:xfrm>
            <a:off x="4598866" y="147456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5" name="Graphic 64" descr="Box trolley">
            <a:extLst>
              <a:ext uri="{FF2B5EF4-FFF2-40B4-BE49-F238E27FC236}">
                <a16:creationId xmlns:a16="http://schemas.microsoft.com/office/drawing/2014/main" id="{A475F3BB-3040-5D63-5DC5-815CD8B26BD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xmlns="" r:embed="rId28"/>
              </a:ext>
            </a:extLst>
          </a:blip>
          <a:stretch>
            <a:fillRect/>
          </a:stretch>
        </p:blipFill>
        <p:spPr>
          <a:xfrm>
            <a:off x="2845364" y="3205649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6" name="Graphic 65" descr="Shopping cart">
            <a:extLst>
              <a:ext uri="{FF2B5EF4-FFF2-40B4-BE49-F238E27FC236}">
                <a16:creationId xmlns:a16="http://schemas.microsoft.com/office/drawing/2014/main" id="{7D397BBB-E99E-2CA1-4ABB-447550B6BF8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xmlns="" r:embed="rId30"/>
              </a:ext>
            </a:extLst>
          </a:blip>
          <a:stretch>
            <a:fillRect/>
          </a:stretch>
        </p:blipFill>
        <p:spPr>
          <a:xfrm>
            <a:off x="363624" y="0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8" name="Graphic 67" descr="Euro">
            <a:extLst>
              <a:ext uri="{FF2B5EF4-FFF2-40B4-BE49-F238E27FC236}">
                <a16:creationId xmlns:a16="http://schemas.microsoft.com/office/drawing/2014/main" id="{C568C465-6AEB-EF05-3442-4F8B3FC9250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32"/>
              </a:ext>
            </a:extLst>
          </a:blip>
          <a:stretch>
            <a:fillRect/>
          </a:stretch>
        </p:blipFill>
        <p:spPr>
          <a:xfrm rot="19894276">
            <a:off x="266331" y="2860666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69" name="Graphic 68" descr="Envelope">
            <a:extLst>
              <a:ext uri="{FF2B5EF4-FFF2-40B4-BE49-F238E27FC236}">
                <a16:creationId xmlns:a16="http://schemas.microsoft.com/office/drawing/2014/main" id="{419768E3-562B-D1D9-5792-D09CDB2B099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xmlns="" r:embed="rId34"/>
              </a:ext>
            </a:extLst>
          </a:blip>
          <a:stretch>
            <a:fillRect/>
          </a:stretch>
        </p:blipFill>
        <p:spPr>
          <a:xfrm rot="20582945">
            <a:off x="2378529" y="177553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70" name="Graphic 69" descr="Gold bars">
            <a:extLst>
              <a:ext uri="{FF2B5EF4-FFF2-40B4-BE49-F238E27FC236}">
                <a16:creationId xmlns:a16="http://schemas.microsoft.com/office/drawing/2014/main" id="{5B0960C3-781B-C4F9-A078-964A73D93B9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xmlns="" r:embed="rId36"/>
              </a:ext>
            </a:extLst>
          </a:blip>
          <a:stretch>
            <a:fillRect/>
          </a:stretch>
        </p:blipFill>
        <p:spPr>
          <a:xfrm rot="2125811">
            <a:off x="1150648" y="1342258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71" name="Graphic 70" descr="Link">
            <a:extLst>
              <a:ext uri="{FF2B5EF4-FFF2-40B4-BE49-F238E27FC236}">
                <a16:creationId xmlns:a16="http://schemas.microsoft.com/office/drawing/2014/main" id="{7B9E8B78-60C5-1BFE-FA29-26B399502ED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xmlns="" r:embed="rId38"/>
              </a:ext>
            </a:extLst>
          </a:blip>
          <a:stretch>
            <a:fillRect/>
          </a:stretch>
        </p:blipFill>
        <p:spPr>
          <a:xfrm>
            <a:off x="8343401" y="225513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72" name="Graphic 71" descr="Globe">
            <a:extLst>
              <a:ext uri="{FF2B5EF4-FFF2-40B4-BE49-F238E27FC236}">
                <a16:creationId xmlns:a16="http://schemas.microsoft.com/office/drawing/2014/main" id="{FF397741-CF6D-E06B-D887-C51B0E8C842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xmlns="" r:embed="rId40"/>
              </a:ext>
            </a:extLst>
          </a:blip>
          <a:stretch>
            <a:fillRect/>
          </a:stretch>
        </p:blipFill>
        <p:spPr>
          <a:xfrm>
            <a:off x="9794738" y="185402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  <p:pic>
        <p:nvPicPr>
          <p:cNvPr id="73" name="Graphic 72" descr="Wallet">
            <a:extLst>
              <a:ext uri="{FF2B5EF4-FFF2-40B4-BE49-F238E27FC236}">
                <a16:creationId xmlns:a16="http://schemas.microsoft.com/office/drawing/2014/main" id="{5B6AEB52-269D-B79F-0DA5-80B49521670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xmlns="" r:embed="rId42"/>
              </a:ext>
            </a:extLst>
          </a:blip>
          <a:stretch>
            <a:fillRect/>
          </a:stretch>
        </p:blipFill>
        <p:spPr>
          <a:xfrm rot="902890">
            <a:off x="5837463" y="103025"/>
            <a:ext cx="914400" cy="914400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8779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61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5DAA1019-E391-3F4C-884D-A2A5C1CE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315280-750B-0059-C49D-59576159F5AB}"/>
              </a:ext>
            </a:extLst>
          </p:cNvPr>
          <p:cNvSpPr txBox="1"/>
          <p:nvPr/>
        </p:nvSpPr>
        <p:spPr>
          <a:xfrm>
            <a:off x="1653307" y="500265"/>
            <a:ext cx="9795743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Arial Black" panose="020B0A04020102020204" pitchFamily="34" charset="0"/>
                <a:ea typeface="Lato"/>
                <a:cs typeface="Times New Roman" panose="02020603050405020304" pitchFamily="18" charset="0"/>
                <a:sym typeface="Lato"/>
              </a:rPr>
              <a:t>Massive Dataset: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Arial Black" panose="020B0A04020102020204" pitchFamily="34" charset="0"/>
                <a:ea typeface="Lato"/>
                <a:cs typeface="Times New Roman" panose="02020603050405020304" pitchFamily="18" charset="0"/>
                <a:sym typeface="Lato"/>
              </a:rPr>
              <a:t> We analyzed over 112.59K total orders and behaviors of 94.5K distinct customers.</a:t>
            </a:r>
            <a:endParaRPr lang="en-US" sz="1600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FDA02-BFA4-BA32-BA66-EDB74CF65A03}"/>
              </a:ext>
            </a:extLst>
          </p:cNvPr>
          <p:cNvSpPr txBox="1"/>
          <p:nvPr/>
        </p:nvSpPr>
        <p:spPr>
          <a:xfrm>
            <a:off x="1644070" y="1543973"/>
            <a:ext cx="9547805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 sz="1600" b="1">
                <a:solidFill>
                  <a:schemeClr val="bg1"/>
                </a:solidFill>
                <a:latin typeface="Arial Black" panose="020B0A04020102020204" pitchFamily="34" charset="0"/>
                <a:ea typeface="Lato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Lato"/>
              </a:rPr>
              <a:t>Objective: To uncover purchasing trends, pinpoint logistical efficiencies, and map payment behaviors.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24B945-065E-9FAA-2D76-24226947DD2A}"/>
              </a:ext>
            </a:extLst>
          </p:cNvPr>
          <p:cNvSpPr txBox="1"/>
          <p:nvPr/>
        </p:nvSpPr>
        <p:spPr>
          <a:xfrm>
            <a:off x="1653311" y="2652338"/>
            <a:ext cx="9471889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160000"/>
              </a:lnSpc>
              <a:buNone/>
              <a:defRPr sz="1600" b="1">
                <a:solidFill>
                  <a:schemeClr val="bg1"/>
                </a:solidFill>
                <a:latin typeface="Arial Black" panose="020B0A04020102020204" pitchFamily="34" charset="0"/>
                <a:ea typeface="Lato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Lato"/>
              </a:rPr>
              <a:t>Multi-Tool Approach: Data was meticulously processed and visualized using industry-standard tools: Excel, Tableau, SQL,  and Power BI.</a:t>
            </a:r>
            <a:endParaRPr lang="en-US"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891" y="698250"/>
            <a:ext cx="216477" cy="225387"/>
          </a:xfrm>
          <a:prstGeom prst="rect">
            <a:avLst/>
          </a:prstGeom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5681" y="1740308"/>
            <a:ext cx="190500" cy="20002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4919" y="2819315"/>
            <a:ext cx="219075" cy="20002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563348C-9C12-B287-645E-88C651C5DA88}"/>
              </a:ext>
            </a:extLst>
          </p:cNvPr>
          <p:cNvGrpSpPr/>
          <p:nvPr/>
        </p:nvGrpSpPr>
        <p:grpSpPr>
          <a:xfrm rot="16200000">
            <a:off x="1620973" y="2631046"/>
            <a:ext cx="8604934" cy="10432463"/>
            <a:chOff x="1126986" y="2365140"/>
            <a:chExt cx="8683527" cy="1043246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D08058-D5EC-4375-8BE5-15CE633E994D}"/>
                </a:ext>
              </a:extLst>
            </p:cNvPr>
            <p:cNvGrpSpPr/>
            <p:nvPr/>
          </p:nvGrpSpPr>
          <p:grpSpPr>
            <a:xfrm rot="5400000">
              <a:off x="252518" y="3239608"/>
              <a:ext cx="10432463" cy="8683527"/>
              <a:chOff x="-229220" y="1801086"/>
              <a:chExt cx="5088007" cy="4237965"/>
            </a:xfrm>
          </p:grpSpPr>
          <p:sp>
            <p:nvSpPr>
              <p:cNvPr id="29" name="Teardrop 28">
                <a:extLst>
                  <a:ext uri="{FF2B5EF4-FFF2-40B4-BE49-F238E27FC236}">
                    <a16:creationId xmlns:a16="http://schemas.microsoft.com/office/drawing/2014/main" id="{FBCD2188-ADA9-80A0-89CC-1D1180D2C252}"/>
                  </a:ext>
                </a:extLst>
              </p:cNvPr>
              <p:cNvSpPr/>
              <p:nvPr/>
            </p:nvSpPr>
            <p:spPr>
              <a:xfrm rot="7951090">
                <a:off x="1447266" y="1801397"/>
                <a:ext cx="1487069" cy="1486448"/>
              </a:xfrm>
              <a:prstGeom prst="teardrop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4"/>
                  </a:solidFill>
                </a:endParaRPr>
              </a:p>
            </p:txBody>
          </p:sp>
          <p:sp>
            <p:nvSpPr>
              <p:cNvPr id="30" name="Teardrop 29">
                <a:extLst>
                  <a:ext uri="{FF2B5EF4-FFF2-40B4-BE49-F238E27FC236}">
                    <a16:creationId xmlns:a16="http://schemas.microsoft.com/office/drawing/2014/main" id="{4FC33A76-52D9-BC89-305E-1F48D569219C}"/>
                  </a:ext>
                </a:extLst>
              </p:cNvPr>
              <p:cNvSpPr/>
              <p:nvPr/>
            </p:nvSpPr>
            <p:spPr>
              <a:xfrm rot="18671431">
                <a:off x="1324728" y="4026552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Teardrop 30">
                <a:extLst>
                  <a:ext uri="{FF2B5EF4-FFF2-40B4-BE49-F238E27FC236}">
                    <a16:creationId xmlns:a16="http://schemas.microsoft.com/office/drawing/2014/main" id="{B68C962D-F50E-DFEA-10F6-EAB370342864}"/>
                  </a:ext>
                </a:extLst>
              </p:cNvPr>
              <p:cNvSpPr/>
              <p:nvPr/>
            </p:nvSpPr>
            <p:spPr>
              <a:xfrm rot="13247941">
                <a:off x="2724827" y="2397027"/>
                <a:ext cx="2133960" cy="2162684"/>
              </a:xfrm>
              <a:prstGeom prst="teardrop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ardrop 31">
                <a:extLst>
                  <a:ext uri="{FF2B5EF4-FFF2-40B4-BE49-F238E27FC236}">
                    <a16:creationId xmlns:a16="http://schemas.microsoft.com/office/drawing/2014/main" id="{CE1257C9-B351-9D60-46BC-AB25EE337482}"/>
                  </a:ext>
                </a:extLst>
              </p:cNvPr>
              <p:cNvSpPr/>
              <p:nvPr/>
            </p:nvSpPr>
            <p:spPr>
              <a:xfrm rot="2425688">
                <a:off x="-229220" y="2680514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1AA624D-4384-5C98-F91B-0CFD5672D558}"/>
                </a:ext>
              </a:extLst>
            </p:cNvPr>
            <p:cNvSpPr/>
            <p:nvPr/>
          </p:nvSpPr>
          <p:spPr>
            <a:xfrm>
              <a:off x="5485136" y="6862373"/>
              <a:ext cx="1376219" cy="1343890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44FF2F3-FB81-AE07-CEB6-5CE48752F59B}"/>
              </a:ext>
            </a:extLst>
          </p:cNvPr>
          <p:cNvSpPr txBox="1"/>
          <p:nvPr/>
        </p:nvSpPr>
        <p:spPr>
          <a:xfrm>
            <a:off x="4243526" y="4287915"/>
            <a:ext cx="278759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06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32541F4C-EC05-7D24-1FC2-4D6F5645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9B71912-F1AE-BDAD-E358-3480C63FD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475" y="73891"/>
            <a:ext cx="3043162" cy="3685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E49361-7602-4881-4051-A88552CB4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891" y="129310"/>
            <a:ext cx="3366433" cy="4929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AB7BE0-4023-3300-BFF4-2AFE71FA0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84" y="89005"/>
            <a:ext cx="3426249" cy="50174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1FBC409-6D90-339F-0276-8BD27AAB2DFA}"/>
              </a:ext>
            </a:extLst>
          </p:cNvPr>
          <p:cNvGrpSpPr/>
          <p:nvPr/>
        </p:nvGrpSpPr>
        <p:grpSpPr>
          <a:xfrm rot="10800000">
            <a:off x="1209715" y="3752068"/>
            <a:ext cx="10089888" cy="8732243"/>
            <a:chOff x="1126989" y="2365135"/>
            <a:chExt cx="10089888" cy="87322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4AE68-9DEE-F28E-F262-170D9A2DD5FE}"/>
                </a:ext>
              </a:extLst>
            </p:cNvPr>
            <p:cNvGrpSpPr/>
            <p:nvPr/>
          </p:nvGrpSpPr>
          <p:grpSpPr>
            <a:xfrm rot="5400000">
              <a:off x="1805811" y="1686313"/>
              <a:ext cx="8732243" cy="10089888"/>
              <a:chOff x="-229220" y="1114716"/>
              <a:chExt cx="4258794" cy="4924335"/>
            </a:xfrm>
          </p:grpSpPr>
          <p:sp>
            <p:nvSpPr>
              <p:cNvPr id="20" name="Teardrop 19">
                <a:extLst>
                  <a:ext uri="{FF2B5EF4-FFF2-40B4-BE49-F238E27FC236}">
                    <a16:creationId xmlns:a16="http://schemas.microsoft.com/office/drawing/2014/main" id="{ED917E7E-9511-49D7-8C04-8551EBF0B098}"/>
                  </a:ext>
                </a:extLst>
              </p:cNvPr>
              <p:cNvSpPr/>
              <p:nvPr/>
            </p:nvSpPr>
            <p:spPr>
              <a:xfrm rot="7842137">
                <a:off x="1155954" y="1124050"/>
                <a:ext cx="2028239" cy="2009571"/>
              </a:xfrm>
              <a:prstGeom prst="teardrop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" name="Teardrop 20">
                <a:extLst>
                  <a:ext uri="{FF2B5EF4-FFF2-40B4-BE49-F238E27FC236}">
                    <a16:creationId xmlns:a16="http://schemas.microsoft.com/office/drawing/2014/main" id="{71EEDF8D-DE46-7E4F-CE01-DFE4E72F785D}"/>
                  </a:ext>
                </a:extLst>
              </p:cNvPr>
              <p:cNvSpPr/>
              <p:nvPr/>
            </p:nvSpPr>
            <p:spPr>
              <a:xfrm rot="18671431">
                <a:off x="1337717" y="4026552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0"/>
              </a:p>
            </p:txBody>
          </p:sp>
          <p:sp>
            <p:nvSpPr>
              <p:cNvPr id="22" name="Teardrop 21">
                <a:extLst>
                  <a:ext uri="{FF2B5EF4-FFF2-40B4-BE49-F238E27FC236}">
                    <a16:creationId xmlns:a16="http://schemas.microsoft.com/office/drawing/2014/main" id="{63AE95E7-D2C0-7843-7DC8-5F9650A22B87}"/>
                  </a:ext>
                </a:extLst>
              </p:cNvPr>
              <p:cNvSpPr/>
              <p:nvPr/>
            </p:nvSpPr>
            <p:spPr>
              <a:xfrm rot="13247941">
                <a:off x="2572888" y="2783753"/>
                <a:ext cx="1456686" cy="1449758"/>
              </a:xfrm>
              <a:prstGeom prst="teardrop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0" dirty="0"/>
              </a:p>
            </p:txBody>
          </p:sp>
          <p:sp>
            <p:nvSpPr>
              <p:cNvPr id="23" name="Teardrop 22">
                <a:extLst>
                  <a:ext uri="{FF2B5EF4-FFF2-40B4-BE49-F238E27FC236}">
                    <a16:creationId xmlns:a16="http://schemas.microsoft.com/office/drawing/2014/main" id="{5F49EED5-845C-FBE8-D71E-569F20395487}"/>
                  </a:ext>
                </a:extLst>
              </p:cNvPr>
              <p:cNvSpPr/>
              <p:nvPr/>
            </p:nvSpPr>
            <p:spPr>
              <a:xfrm rot="2425688">
                <a:off x="-229220" y="2680514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0" dirty="0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4619E47-BE94-700D-BE4E-4570B38596C0}"/>
                </a:ext>
              </a:extLst>
            </p:cNvPr>
            <p:cNvSpPr/>
            <p:nvPr/>
          </p:nvSpPr>
          <p:spPr>
            <a:xfrm>
              <a:off x="5474651" y="6785096"/>
              <a:ext cx="1376219" cy="1343890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4CC687C-1A34-6178-269A-DE146AEF4AB5}"/>
              </a:ext>
            </a:extLst>
          </p:cNvPr>
          <p:cNvSpPr txBox="1"/>
          <p:nvPr/>
        </p:nvSpPr>
        <p:spPr>
          <a:xfrm>
            <a:off x="4805357" y="4915984"/>
            <a:ext cx="261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</a:t>
            </a: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</a:p>
          <a:p>
            <a:pPr algn="ctr"/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KPI’s)</a:t>
            </a:r>
            <a:endParaRPr lang="en-IN" sz="1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816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2DEF3B6-EEE0-F052-BF7A-6B2848B3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115459-570F-1394-69B7-6DF580B843BB}"/>
              </a:ext>
            </a:extLst>
          </p:cNvPr>
          <p:cNvSpPr/>
          <p:nvPr/>
        </p:nvSpPr>
        <p:spPr>
          <a:xfrm>
            <a:off x="73891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EXCEL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DASHBOAD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BDC53A-F32C-7758-91F5-580474F44161}"/>
              </a:ext>
            </a:extLst>
          </p:cNvPr>
          <p:cNvSpPr/>
          <p:nvPr/>
        </p:nvSpPr>
        <p:spPr>
          <a:xfrm>
            <a:off x="651164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TABLEAU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F03C5A-D252-4064-8721-F36F68C3D829}"/>
              </a:ext>
            </a:extLst>
          </p:cNvPr>
          <p:cNvSpPr/>
          <p:nvPr/>
        </p:nvSpPr>
        <p:spPr>
          <a:xfrm>
            <a:off x="1251527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POWERBI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303F03-A0EF-DD51-F5B3-F25A009943E2}"/>
              </a:ext>
            </a:extLst>
          </p:cNvPr>
          <p:cNvSpPr/>
          <p:nvPr/>
        </p:nvSpPr>
        <p:spPr>
          <a:xfrm>
            <a:off x="1842655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QUERIES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B64A6E-BA7D-E99C-AFE5-7193B00E72DE}"/>
              </a:ext>
            </a:extLst>
          </p:cNvPr>
          <p:cNvGrpSpPr/>
          <p:nvPr/>
        </p:nvGrpSpPr>
        <p:grpSpPr>
          <a:xfrm rot="5400000">
            <a:off x="1686799" y="2932901"/>
            <a:ext cx="8923172" cy="10468899"/>
            <a:chOff x="2278415" y="2365136"/>
            <a:chExt cx="8923172" cy="1046889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7A3DBD0-49E5-0C84-655B-3E66A282A155}"/>
                </a:ext>
              </a:extLst>
            </p:cNvPr>
            <p:cNvGrpSpPr/>
            <p:nvPr/>
          </p:nvGrpSpPr>
          <p:grpSpPr>
            <a:xfrm rot="5400000">
              <a:off x="1505551" y="3138000"/>
              <a:ext cx="10468899" cy="8923172"/>
              <a:chOff x="-229220" y="1122177"/>
              <a:chExt cx="5105777" cy="4354923"/>
            </a:xfrm>
          </p:grpSpPr>
          <p:sp>
            <p:nvSpPr>
              <p:cNvPr id="22" name="Teardrop 21">
                <a:extLst>
                  <a:ext uri="{FF2B5EF4-FFF2-40B4-BE49-F238E27FC236}">
                    <a16:creationId xmlns:a16="http://schemas.microsoft.com/office/drawing/2014/main" id="{969A4042-9B97-F496-361C-8DF1DBC65D5D}"/>
                  </a:ext>
                </a:extLst>
              </p:cNvPr>
              <p:cNvSpPr/>
              <p:nvPr/>
            </p:nvSpPr>
            <p:spPr>
              <a:xfrm rot="7842137">
                <a:off x="1143342" y="1137917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3" name="Teardrop 22">
                <a:extLst>
                  <a:ext uri="{FF2B5EF4-FFF2-40B4-BE49-F238E27FC236}">
                    <a16:creationId xmlns:a16="http://schemas.microsoft.com/office/drawing/2014/main" id="{FDA10D11-B5C7-43BB-FB8A-5150A647AD56}"/>
                  </a:ext>
                </a:extLst>
              </p:cNvPr>
              <p:cNvSpPr/>
              <p:nvPr/>
            </p:nvSpPr>
            <p:spPr>
              <a:xfrm rot="18671431">
                <a:off x="1569291" y="3921334"/>
                <a:ext cx="1550956" cy="1560575"/>
              </a:xfrm>
              <a:prstGeom prst="teardrop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Teardrop 23">
                <a:extLst>
                  <a:ext uri="{FF2B5EF4-FFF2-40B4-BE49-F238E27FC236}">
                    <a16:creationId xmlns:a16="http://schemas.microsoft.com/office/drawing/2014/main" id="{3F36129D-EB43-EFD6-C4C1-F9B3C8C8ACEB}"/>
                  </a:ext>
                </a:extLst>
              </p:cNvPr>
              <p:cNvSpPr/>
              <p:nvPr/>
            </p:nvSpPr>
            <p:spPr>
              <a:xfrm rot="13247941">
                <a:off x="2742597" y="2379539"/>
                <a:ext cx="2133960" cy="2162684"/>
              </a:xfrm>
              <a:prstGeom prst="teardrop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5" name="Teardrop 24">
                <a:extLst>
                  <a:ext uri="{FF2B5EF4-FFF2-40B4-BE49-F238E27FC236}">
                    <a16:creationId xmlns:a16="http://schemas.microsoft.com/office/drawing/2014/main" id="{3A30D4A7-7B7C-AE38-F823-5E21FC1BA12B}"/>
                  </a:ext>
                </a:extLst>
              </p:cNvPr>
              <p:cNvSpPr/>
              <p:nvPr/>
            </p:nvSpPr>
            <p:spPr>
              <a:xfrm rot="2425688">
                <a:off x="-229220" y="2680514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99572B-AF66-3BC4-DA12-C55E2FB0F936}"/>
                </a:ext>
              </a:extLst>
            </p:cNvPr>
            <p:cNvSpPr/>
            <p:nvPr/>
          </p:nvSpPr>
          <p:spPr>
            <a:xfrm>
              <a:off x="5372754" y="6779692"/>
              <a:ext cx="1376219" cy="1343890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3559752-9DCE-8F8E-4391-B666022545CA}"/>
              </a:ext>
            </a:extLst>
          </p:cNvPr>
          <p:cNvSpPr txBox="1"/>
          <p:nvPr/>
        </p:nvSpPr>
        <p:spPr>
          <a:xfrm>
            <a:off x="4812528" y="4652676"/>
            <a:ext cx="25662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 Boards of ecommerce analysis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00CF48A-6D8C-BFD9-869F-82B2DA2C7F63}"/>
              </a:ext>
            </a:extLst>
          </p:cNvPr>
          <p:cNvGrpSpPr/>
          <p:nvPr/>
        </p:nvGrpSpPr>
        <p:grpSpPr>
          <a:xfrm>
            <a:off x="937789" y="3721668"/>
            <a:ext cx="10468899" cy="8923172"/>
            <a:chOff x="937789" y="3721668"/>
            <a:chExt cx="10468899" cy="892317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4584A40-7CA4-5F04-0DE3-819F85002B26}"/>
                </a:ext>
              </a:extLst>
            </p:cNvPr>
            <p:cNvGrpSpPr/>
            <p:nvPr/>
          </p:nvGrpSpPr>
          <p:grpSpPr>
            <a:xfrm rot="5400000">
              <a:off x="1710653" y="2948804"/>
              <a:ext cx="8923172" cy="10468899"/>
              <a:chOff x="2278415" y="2365136"/>
              <a:chExt cx="8923172" cy="1046889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110E8F2-13B3-672E-21BE-12D69DB4912B}"/>
                  </a:ext>
                </a:extLst>
              </p:cNvPr>
              <p:cNvGrpSpPr/>
              <p:nvPr/>
            </p:nvGrpSpPr>
            <p:grpSpPr>
              <a:xfrm rot="5400000">
                <a:off x="1505551" y="3138000"/>
                <a:ext cx="10468899" cy="8923172"/>
                <a:chOff x="-229220" y="1122177"/>
                <a:chExt cx="5105777" cy="4354923"/>
              </a:xfrm>
            </p:grpSpPr>
            <p:sp>
              <p:nvSpPr>
                <p:cNvPr id="31" name="Teardrop 30">
                  <a:extLst>
                    <a:ext uri="{FF2B5EF4-FFF2-40B4-BE49-F238E27FC236}">
                      <a16:creationId xmlns:a16="http://schemas.microsoft.com/office/drawing/2014/main" id="{6767A808-25A2-91D7-0ADD-375B52D7AA2A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32" name="Teardrop 31">
                  <a:extLst>
                    <a:ext uri="{FF2B5EF4-FFF2-40B4-BE49-F238E27FC236}">
                      <a16:creationId xmlns:a16="http://schemas.microsoft.com/office/drawing/2014/main" id="{FA1D299D-C726-D5A3-C0AA-8AF5230B6C1C}"/>
                    </a:ext>
                  </a:extLst>
                </p:cNvPr>
                <p:cNvSpPr/>
                <p:nvPr/>
              </p:nvSpPr>
              <p:spPr>
                <a:xfrm rot="18671431">
                  <a:off x="1569291" y="3921334"/>
                  <a:ext cx="1550956" cy="1560575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3" name="Teardrop 32">
                  <a:extLst>
                    <a:ext uri="{FF2B5EF4-FFF2-40B4-BE49-F238E27FC236}">
                      <a16:creationId xmlns:a16="http://schemas.microsoft.com/office/drawing/2014/main" id="{F3D0FA70-25F0-D98E-A568-515F140FD16D}"/>
                    </a:ext>
                  </a:extLst>
                </p:cNvPr>
                <p:cNvSpPr/>
                <p:nvPr/>
              </p:nvSpPr>
              <p:spPr>
                <a:xfrm rot="13247941">
                  <a:off x="2742597" y="2379539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4" name="Teardrop 33">
                  <a:extLst>
                    <a:ext uri="{FF2B5EF4-FFF2-40B4-BE49-F238E27FC236}">
                      <a16:creationId xmlns:a16="http://schemas.microsoft.com/office/drawing/2014/main" id="{540D3774-6D48-5C30-0E09-673BCA3CE569}"/>
                    </a:ext>
                  </a:extLst>
                </p:cNvPr>
                <p:cNvSpPr/>
                <p:nvPr/>
              </p:nvSpPr>
              <p:spPr>
                <a:xfrm rot="2425688">
                  <a:off x="-229220" y="2680514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0DC6CB0-9D5A-318D-27FF-07D638801B75}"/>
                  </a:ext>
                </a:extLst>
              </p:cNvPr>
              <p:cNvSpPr/>
              <p:nvPr/>
            </p:nvSpPr>
            <p:spPr>
              <a:xfrm>
                <a:off x="5372754" y="6779692"/>
                <a:ext cx="1376219" cy="1343890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6640CD3-960E-46ED-BF76-9DB1A1E77B3D}"/>
                </a:ext>
              </a:extLst>
            </p:cNvPr>
            <p:cNvSpPr txBox="1"/>
            <p:nvPr/>
          </p:nvSpPr>
          <p:spPr>
            <a:xfrm>
              <a:off x="4836382" y="4668579"/>
              <a:ext cx="256628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DashBoards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 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Ecommerce 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28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nalysis</a:t>
              </a:r>
              <a:endPara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A1EA303-565A-B1D0-1C10-1D1EE1CE1ECE}"/>
              </a:ext>
            </a:extLst>
          </p:cNvPr>
          <p:cNvSpPr txBox="1"/>
          <p:nvPr/>
        </p:nvSpPr>
        <p:spPr>
          <a:xfrm>
            <a:off x="2615976" y="315622"/>
            <a:ext cx="87046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1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</a:rPr>
              <a:t>Overall, this dashboard explains the complete analysis of the </a:t>
            </a:r>
            <a:r>
              <a:rPr lang="en-US" sz="1200" b="1" dirty="0" err="1">
                <a:solidFill>
                  <a:schemeClr val="bg1"/>
                </a:solidFill>
              </a:rPr>
              <a:t>Olist</a:t>
            </a:r>
            <a:r>
              <a:rPr lang="en-US" sz="1200" b="1" dirty="0">
                <a:solidFill>
                  <a:schemeClr val="bg1"/>
                </a:solidFill>
              </a:rPr>
              <a:t> E-commerce dataset and gives us insights about customer behavior, sales performance, delivery efficiency, and customer satisfaction</a:t>
            </a:r>
            <a:r>
              <a:rPr lang="en-US" sz="1200" b="1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</a:rPr>
              <a:t>Key Insights from Dashboard</a:t>
            </a:r>
          </a:p>
          <a:p>
            <a:pPr marL="4000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bg1"/>
                </a:solidFill>
              </a:rPr>
              <a:t>Weekday </a:t>
            </a:r>
            <a:r>
              <a:rPr lang="en-US" sz="1200" b="1" dirty="0">
                <a:solidFill>
                  <a:schemeClr val="bg1"/>
                </a:solidFill>
              </a:rPr>
              <a:t>vs Weekend Sales Analysis</a:t>
            </a:r>
          </a:p>
          <a:p>
            <a:pPr marL="4000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Payment &amp; Customer Satisfaction</a:t>
            </a:r>
          </a:p>
          <a:p>
            <a:pPr marL="4000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Pet Shop Delivery Performance</a:t>
            </a:r>
          </a:p>
          <a:p>
            <a:pPr marL="4000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São Paulo Customer Spending </a:t>
            </a:r>
            <a:r>
              <a:rPr lang="en-US" sz="1200" b="1" dirty="0" err="1">
                <a:solidFill>
                  <a:schemeClr val="bg1"/>
                </a:solidFill>
              </a:rPr>
              <a:t>Behaviour</a:t>
            </a:r>
            <a:endParaRPr lang="en-US" sz="1200" b="1" dirty="0">
              <a:solidFill>
                <a:schemeClr val="bg1"/>
              </a:solidFill>
            </a:endParaRPr>
          </a:p>
          <a:p>
            <a:pPr marL="4000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Shipping Time vs Review Score</a:t>
            </a:r>
          </a:p>
          <a:p>
            <a:endParaRPr lang="en-US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417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3FC1D326-FB95-0D4B-9143-E233D657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348957-23F3-A841-92AB-A503CC16FB4D}"/>
              </a:ext>
            </a:extLst>
          </p:cNvPr>
          <p:cNvSpPr/>
          <p:nvPr/>
        </p:nvSpPr>
        <p:spPr>
          <a:xfrm>
            <a:off x="73891" y="0"/>
            <a:ext cx="10187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663850-AB8D-AC5B-5B41-00B7461DC257}"/>
              </a:ext>
            </a:extLst>
          </p:cNvPr>
          <p:cNvSpPr/>
          <p:nvPr/>
        </p:nvSpPr>
        <p:spPr>
          <a:xfrm>
            <a:off x="10377055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TABLEAU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89851F-FB4D-14BF-0FF6-DA9662B32F42}"/>
              </a:ext>
            </a:extLst>
          </p:cNvPr>
          <p:cNvSpPr/>
          <p:nvPr/>
        </p:nvSpPr>
        <p:spPr>
          <a:xfrm>
            <a:off x="10977418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POWERBI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61D285-8B62-F6F5-9AE5-4A188334E741}"/>
              </a:ext>
            </a:extLst>
          </p:cNvPr>
          <p:cNvSpPr/>
          <p:nvPr/>
        </p:nvSpPr>
        <p:spPr>
          <a:xfrm>
            <a:off x="11568546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QUERIES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C4CF7C-7316-3453-A591-3C94DAA0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7" y="92363"/>
            <a:ext cx="9440718" cy="3787164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449B67-C0C0-1DD9-A125-DCFB7B00890A}"/>
              </a:ext>
            </a:extLst>
          </p:cNvPr>
          <p:cNvGrpSpPr/>
          <p:nvPr/>
        </p:nvGrpSpPr>
        <p:grpSpPr>
          <a:xfrm>
            <a:off x="699250" y="4034238"/>
            <a:ext cx="10468899" cy="8666262"/>
            <a:chOff x="937789" y="3978579"/>
            <a:chExt cx="10468899" cy="866626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7F3C20-A95C-CFEB-2F5D-EA8C6423DD4B}"/>
                </a:ext>
              </a:extLst>
            </p:cNvPr>
            <p:cNvGrpSpPr/>
            <p:nvPr/>
          </p:nvGrpSpPr>
          <p:grpSpPr>
            <a:xfrm rot="5400000">
              <a:off x="1839108" y="3077260"/>
              <a:ext cx="8666262" cy="10468899"/>
              <a:chOff x="2535325" y="2365137"/>
              <a:chExt cx="8666262" cy="10468899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A922AC3-E028-13AE-3E42-D089D6EF697D}"/>
                  </a:ext>
                </a:extLst>
              </p:cNvPr>
              <p:cNvGrpSpPr/>
              <p:nvPr/>
            </p:nvGrpSpPr>
            <p:grpSpPr>
              <a:xfrm rot="5400000">
                <a:off x="1634006" y="3266456"/>
                <a:ext cx="10468899" cy="8666262"/>
                <a:chOff x="-229220" y="1122177"/>
                <a:chExt cx="5105777" cy="4229539"/>
              </a:xfrm>
            </p:grpSpPr>
            <p:sp>
              <p:nvSpPr>
                <p:cNvPr id="22" name="Teardrop 21">
                  <a:extLst>
                    <a:ext uri="{FF2B5EF4-FFF2-40B4-BE49-F238E27FC236}">
                      <a16:creationId xmlns:a16="http://schemas.microsoft.com/office/drawing/2014/main" id="{F5A772A8-5FFC-D134-C719-425A236A9687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3" name="Teardrop 22">
                  <a:extLst>
                    <a:ext uri="{FF2B5EF4-FFF2-40B4-BE49-F238E27FC236}">
                      <a16:creationId xmlns:a16="http://schemas.microsoft.com/office/drawing/2014/main" id="{C50ADA75-B8E0-746D-76C0-484A2C36558C}"/>
                    </a:ext>
                  </a:extLst>
                </p:cNvPr>
                <p:cNvSpPr/>
                <p:nvPr/>
              </p:nvSpPr>
              <p:spPr>
                <a:xfrm rot="18671431">
                  <a:off x="1615126" y="3900503"/>
                  <a:ext cx="1447653" cy="1454774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Teardrop 23">
                  <a:extLst>
                    <a:ext uri="{FF2B5EF4-FFF2-40B4-BE49-F238E27FC236}">
                      <a16:creationId xmlns:a16="http://schemas.microsoft.com/office/drawing/2014/main" id="{CA177A2A-6597-9819-97D4-3345F7910D7F}"/>
                    </a:ext>
                  </a:extLst>
                </p:cNvPr>
                <p:cNvSpPr/>
                <p:nvPr/>
              </p:nvSpPr>
              <p:spPr>
                <a:xfrm rot="13247941">
                  <a:off x="2742597" y="2379539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" name="Teardrop 24">
                  <a:extLst>
                    <a:ext uri="{FF2B5EF4-FFF2-40B4-BE49-F238E27FC236}">
                      <a16:creationId xmlns:a16="http://schemas.microsoft.com/office/drawing/2014/main" id="{FD32F054-6D37-A847-468F-973CCD47493D}"/>
                    </a:ext>
                  </a:extLst>
                </p:cNvPr>
                <p:cNvSpPr/>
                <p:nvPr/>
              </p:nvSpPr>
              <p:spPr>
                <a:xfrm rot="2425688">
                  <a:off x="-229220" y="2703799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C92E99-944E-FC12-689E-09EC0D7102B0}"/>
                  </a:ext>
                </a:extLst>
              </p:cNvPr>
              <p:cNvSpPr/>
              <p:nvPr/>
            </p:nvSpPr>
            <p:spPr>
              <a:xfrm>
                <a:off x="5372754" y="6779692"/>
                <a:ext cx="1376219" cy="1343890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388B66-2C66-DBFC-B69C-5E8D04218617}"/>
                </a:ext>
              </a:extLst>
            </p:cNvPr>
            <p:cNvSpPr txBox="1"/>
            <p:nvPr/>
          </p:nvSpPr>
          <p:spPr>
            <a:xfrm>
              <a:off x="4923846" y="4843507"/>
              <a:ext cx="256628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DashBoards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of Ecommerce Analysis</a:t>
              </a:r>
              <a:endPara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556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6218E8AB-5874-5E91-11E1-18CA6BBA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D362A1-B30C-FCD2-5BC3-6FD45E8B404A}"/>
              </a:ext>
            </a:extLst>
          </p:cNvPr>
          <p:cNvSpPr/>
          <p:nvPr/>
        </p:nvSpPr>
        <p:spPr>
          <a:xfrm>
            <a:off x="73891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EXCEL DASHBOADR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14055F-24E8-8808-60C1-E22AF2576218}"/>
              </a:ext>
            </a:extLst>
          </p:cNvPr>
          <p:cNvSpPr/>
          <p:nvPr/>
        </p:nvSpPr>
        <p:spPr>
          <a:xfrm>
            <a:off x="651164" y="0"/>
            <a:ext cx="10229272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2D1486-3F83-F3A8-47C6-C62D749413BC}"/>
              </a:ext>
            </a:extLst>
          </p:cNvPr>
          <p:cNvSpPr/>
          <p:nvPr/>
        </p:nvSpPr>
        <p:spPr>
          <a:xfrm>
            <a:off x="10958945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POWERBI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DAC69E-4704-932F-44B5-88B8DF06161D}"/>
              </a:ext>
            </a:extLst>
          </p:cNvPr>
          <p:cNvSpPr/>
          <p:nvPr/>
        </p:nvSpPr>
        <p:spPr>
          <a:xfrm>
            <a:off x="11568546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QUERIES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D264B3-7AB4-54CF-1BD9-A8A2B2A06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96" y="152321"/>
            <a:ext cx="9619014" cy="3596426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C244806-8698-3182-684B-A8996D82185B}"/>
              </a:ext>
            </a:extLst>
          </p:cNvPr>
          <p:cNvGrpSpPr/>
          <p:nvPr/>
        </p:nvGrpSpPr>
        <p:grpSpPr>
          <a:xfrm>
            <a:off x="937789" y="4014632"/>
            <a:ext cx="10468899" cy="8630208"/>
            <a:chOff x="937789" y="4014632"/>
            <a:chExt cx="10468899" cy="86302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14BFB7-3314-BAFB-F514-5D8D29E9BBE6}"/>
                </a:ext>
              </a:extLst>
            </p:cNvPr>
            <p:cNvGrpSpPr/>
            <p:nvPr/>
          </p:nvGrpSpPr>
          <p:grpSpPr>
            <a:xfrm rot="5400000">
              <a:off x="1857135" y="3095286"/>
              <a:ext cx="8630208" cy="10468899"/>
              <a:chOff x="2571379" y="2365136"/>
              <a:chExt cx="8630208" cy="1046889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E39BB66-3D8F-2D7F-7C53-F1503C12B761}"/>
                  </a:ext>
                </a:extLst>
              </p:cNvPr>
              <p:cNvGrpSpPr/>
              <p:nvPr/>
            </p:nvGrpSpPr>
            <p:grpSpPr>
              <a:xfrm rot="5400000">
                <a:off x="1652033" y="3284482"/>
                <a:ext cx="10468899" cy="8630208"/>
                <a:chOff x="-229220" y="1122177"/>
                <a:chExt cx="5105777" cy="4211943"/>
              </a:xfrm>
            </p:grpSpPr>
            <p:sp>
              <p:nvSpPr>
                <p:cNvPr id="20" name="Teardrop 19">
                  <a:extLst>
                    <a:ext uri="{FF2B5EF4-FFF2-40B4-BE49-F238E27FC236}">
                      <a16:creationId xmlns:a16="http://schemas.microsoft.com/office/drawing/2014/main" id="{AD9592CD-1C80-C170-D011-877C294396DC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" name="Teardrop 20">
                  <a:extLst>
                    <a:ext uri="{FF2B5EF4-FFF2-40B4-BE49-F238E27FC236}">
                      <a16:creationId xmlns:a16="http://schemas.microsoft.com/office/drawing/2014/main" id="{8C0C6536-DAC9-D709-287D-9CFD4A00801F}"/>
                    </a:ext>
                  </a:extLst>
                </p:cNvPr>
                <p:cNvSpPr/>
                <p:nvPr/>
              </p:nvSpPr>
              <p:spPr>
                <a:xfrm rot="18671431">
                  <a:off x="1599751" y="3885280"/>
                  <a:ext cx="1439622" cy="1458057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Teardrop 21">
                  <a:extLst>
                    <a:ext uri="{FF2B5EF4-FFF2-40B4-BE49-F238E27FC236}">
                      <a16:creationId xmlns:a16="http://schemas.microsoft.com/office/drawing/2014/main" id="{B59A0F01-9939-3347-AA6E-FF33BE8BB353}"/>
                    </a:ext>
                  </a:extLst>
                </p:cNvPr>
                <p:cNvSpPr/>
                <p:nvPr/>
              </p:nvSpPr>
              <p:spPr>
                <a:xfrm rot="13247941">
                  <a:off x="2742597" y="2379539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3" name="Teardrop 22">
                  <a:extLst>
                    <a:ext uri="{FF2B5EF4-FFF2-40B4-BE49-F238E27FC236}">
                      <a16:creationId xmlns:a16="http://schemas.microsoft.com/office/drawing/2014/main" id="{8A03B632-C6F5-E6E4-E4C5-82FAC4DD783A}"/>
                    </a:ext>
                  </a:extLst>
                </p:cNvPr>
                <p:cNvSpPr/>
                <p:nvPr/>
              </p:nvSpPr>
              <p:spPr>
                <a:xfrm rot="2425688">
                  <a:off x="-229220" y="2680514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EDA5548-5006-8833-664E-A8EFC39C9133}"/>
                  </a:ext>
                </a:extLst>
              </p:cNvPr>
              <p:cNvSpPr/>
              <p:nvPr/>
            </p:nvSpPr>
            <p:spPr>
              <a:xfrm>
                <a:off x="5372754" y="6779692"/>
                <a:ext cx="1376219" cy="1343890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D0E250-60FC-88CB-7FE5-AA3D49B4F9C1}"/>
                </a:ext>
              </a:extLst>
            </p:cNvPr>
            <p:cNvSpPr txBox="1"/>
            <p:nvPr/>
          </p:nvSpPr>
          <p:spPr>
            <a:xfrm>
              <a:off x="4884090" y="4899167"/>
              <a:ext cx="256628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DashBoards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of Ecommerce Analysis</a:t>
              </a:r>
              <a:endPara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557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4FCBAD49-EC84-89D4-90B9-8464851F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A8419D-BEB8-EA7E-67EC-DCFDDBD3D86C}"/>
              </a:ext>
            </a:extLst>
          </p:cNvPr>
          <p:cNvSpPr/>
          <p:nvPr/>
        </p:nvSpPr>
        <p:spPr>
          <a:xfrm>
            <a:off x="73891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EXCEL DASHBOADR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CD38FE-0669-DE9A-D5AD-C60060DFF3BE}"/>
              </a:ext>
            </a:extLst>
          </p:cNvPr>
          <p:cNvSpPr/>
          <p:nvPr/>
        </p:nvSpPr>
        <p:spPr>
          <a:xfrm>
            <a:off x="651164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TABLEAU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4B375C-30A0-7DDE-2E01-40E707A20A7E}"/>
              </a:ext>
            </a:extLst>
          </p:cNvPr>
          <p:cNvSpPr/>
          <p:nvPr/>
        </p:nvSpPr>
        <p:spPr>
          <a:xfrm>
            <a:off x="1251527" y="0"/>
            <a:ext cx="10210800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POWERBI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F7D283-FDEE-9281-58F7-DD634F3D6FB6}"/>
              </a:ext>
            </a:extLst>
          </p:cNvPr>
          <p:cNvSpPr/>
          <p:nvPr/>
        </p:nvSpPr>
        <p:spPr>
          <a:xfrm>
            <a:off x="11577782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QUERIES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FBE00-DB27-F176-BA22-BB0D3932B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44" y="151824"/>
            <a:ext cx="9505311" cy="3684901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08A24F5-7963-42AA-57F4-5AAEF11D3599}"/>
              </a:ext>
            </a:extLst>
          </p:cNvPr>
          <p:cNvGrpSpPr/>
          <p:nvPr/>
        </p:nvGrpSpPr>
        <p:grpSpPr>
          <a:xfrm>
            <a:off x="937789" y="4043056"/>
            <a:ext cx="10468899" cy="8601783"/>
            <a:chOff x="937789" y="4043056"/>
            <a:chExt cx="10468899" cy="860178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B25A96-2FA1-1EE9-C692-722877322911}"/>
                </a:ext>
              </a:extLst>
            </p:cNvPr>
            <p:cNvGrpSpPr/>
            <p:nvPr/>
          </p:nvGrpSpPr>
          <p:grpSpPr>
            <a:xfrm rot="5400000">
              <a:off x="1871347" y="3109498"/>
              <a:ext cx="8601783" cy="10468899"/>
              <a:chOff x="2599803" y="2365137"/>
              <a:chExt cx="8601783" cy="1046889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AA7C1FE-A256-1D02-BF57-B6152E82ED7C}"/>
                  </a:ext>
                </a:extLst>
              </p:cNvPr>
              <p:cNvGrpSpPr/>
              <p:nvPr/>
            </p:nvGrpSpPr>
            <p:grpSpPr>
              <a:xfrm rot="5400000">
                <a:off x="1666245" y="3298695"/>
                <a:ext cx="10468899" cy="8601783"/>
                <a:chOff x="-229220" y="1122177"/>
                <a:chExt cx="5105777" cy="4198070"/>
              </a:xfrm>
            </p:grpSpPr>
            <p:sp>
              <p:nvSpPr>
                <p:cNvPr id="20" name="Teardrop 19">
                  <a:extLst>
                    <a:ext uri="{FF2B5EF4-FFF2-40B4-BE49-F238E27FC236}">
                      <a16:creationId xmlns:a16="http://schemas.microsoft.com/office/drawing/2014/main" id="{789F3317-90B5-8803-C3E6-E250D294DD39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" name="Teardrop 20">
                  <a:extLst>
                    <a:ext uri="{FF2B5EF4-FFF2-40B4-BE49-F238E27FC236}">
                      <a16:creationId xmlns:a16="http://schemas.microsoft.com/office/drawing/2014/main" id="{DCC91DBF-59CF-ADE1-45F9-A4CE86F42D30}"/>
                    </a:ext>
                  </a:extLst>
                </p:cNvPr>
                <p:cNvSpPr/>
                <p:nvPr/>
              </p:nvSpPr>
              <p:spPr>
                <a:xfrm rot="18671431">
                  <a:off x="1644647" y="3887105"/>
                  <a:ext cx="1411878" cy="1454406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Teardrop 21">
                  <a:extLst>
                    <a:ext uri="{FF2B5EF4-FFF2-40B4-BE49-F238E27FC236}">
                      <a16:creationId xmlns:a16="http://schemas.microsoft.com/office/drawing/2014/main" id="{03069B8E-ACA1-D9E6-1757-85A3D4A3D3F9}"/>
                    </a:ext>
                  </a:extLst>
                </p:cNvPr>
                <p:cNvSpPr/>
                <p:nvPr/>
              </p:nvSpPr>
              <p:spPr>
                <a:xfrm rot="13247941">
                  <a:off x="2742597" y="2379539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3" name="Teardrop 22">
                  <a:extLst>
                    <a:ext uri="{FF2B5EF4-FFF2-40B4-BE49-F238E27FC236}">
                      <a16:creationId xmlns:a16="http://schemas.microsoft.com/office/drawing/2014/main" id="{00EA0A61-30F5-9E67-EA77-6EA0B21A2868}"/>
                    </a:ext>
                  </a:extLst>
                </p:cNvPr>
                <p:cNvSpPr/>
                <p:nvPr/>
              </p:nvSpPr>
              <p:spPr>
                <a:xfrm rot="2425688">
                  <a:off x="-229220" y="2680514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EC0BE77-A7AB-750F-55EE-5C44FBD909A0}"/>
                  </a:ext>
                </a:extLst>
              </p:cNvPr>
              <p:cNvSpPr/>
              <p:nvPr/>
            </p:nvSpPr>
            <p:spPr>
              <a:xfrm>
                <a:off x="5372754" y="6779692"/>
                <a:ext cx="1376219" cy="1343890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989AA9-0C9B-89FD-48B9-94218358928E}"/>
                </a:ext>
              </a:extLst>
            </p:cNvPr>
            <p:cNvSpPr txBox="1"/>
            <p:nvPr/>
          </p:nvSpPr>
          <p:spPr>
            <a:xfrm>
              <a:off x="4868187" y="4915070"/>
              <a:ext cx="256628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DashBoards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of Ecommerce Analysis</a:t>
              </a:r>
              <a:endPara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068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351B528-C69B-68CB-0C32-0D20DB7F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A119C2-CAD1-160D-062A-C89AD1ADD414}"/>
              </a:ext>
            </a:extLst>
          </p:cNvPr>
          <p:cNvSpPr/>
          <p:nvPr/>
        </p:nvSpPr>
        <p:spPr>
          <a:xfrm>
            <a:off x="73891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EXCEL DASHBOADR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403752-C34E-6BC7-0199-645BD1B3075C}"/>
              </a:ext>
            </a:extLst>
          </p:cNvPr>
          <p:cNvSpPr/>
          <p:nvPr/>
        </p:nvSpPr>
        <p:spPr>
          <a:xfrm>
            <a:off x="651164" y="0"/>
            <a:ext cx="535709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TABLEAU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5E7AB0-D909-FA7E-52BC-1C4EBB3AC6BF}"/>
              </a:ext>
            </a:extLst>
          </p:cNvPr>
          <p:cNvSpPr/>
          <p:nvPr/>
        </p:nvSpPr>
        <p:spPr>
          <a:xfrm>
            <a:off x="1251527" y="0"/>
            <a:ext cx="532885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POWERBI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DASHBOARD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DE2CC1-F422-CF9D-4F94-827CF007A348}"/>
              </a:ext>
            </a:extLst>
          </p:cNvPr>
          <p:cNvSpPr/>
          <p:nvPr/>
        </p:nvSpPr>
        <p:spPr>
          <a:xfrm>
            <a:off x="1846554" y="0"/>
            <a:ext cx="10204793" cy="3962400"/>
          </a:xfrm>
          <a:prstGeom prst="roundRect">
            <a:avLst/>
          </a:prstGeom>
          <a:solidFill>
            <a:srgbClr val="C4ACAB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SQL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QUERIES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86E27E-9C2B-D787-6260-5299BDE6F123}"/>
              </a:ext>
            </a:extLst>
          </p:cNvPr>
          <p:cNvGrpSpPr/>
          <p:nvPr/>
        </p:nvGrpSpPr>
        <p:grpSpPr>
          <a:xfrm>
            <a:off x="1008810" y="4034178"/>
            <a:ext cx="10353098" cy="8610661"/>
            <a:chOff x="1008810" y="4034178"/>
            <a:chExt cx="10353098" cy="861066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0ACF3E-2E50-B069-7591-45B7EF9A4607}"/>
                </a:ext>
              </a:extLst>
            </p:cNvPr>
            <p:cNvGrpSpPr/>
            <p:nvPr/>
          </p:nvGrpSpPr>
          <p:grpSpPr>
            <a:xfrm rot="5400000">
              <a:off x="1880028" y="3162960"/>
              <a:ext cx="8610661" cy="10353098"/>
              <a:chOff x="2590925" y="2409918"/>
              <a:chExt cx="8610661" cy="1035309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11BB353-6A47-E051-FC84-A8D08220D0B0}"/>
                  </a:ext>
                </a:extLst>
              </p:cNvPr>
              <p:cNvGrpSpPr/>
              <p:nvPr/>
            </p:nvGrpSpPr>
            <p:grpSpPr>
              <a:xfrm rot="5400000">
                <a:off x="1719707" y="3281136"/>
                <a:ext cx="10353098" cy="8610661"/>
                <a:chOff x="-207380" y="1122177"/>
                <a:chExt cx="5049300" cy="4202403"/>
              </a:xfrm>
            </p:grpSpPr>
            <p:sp>
              <p:nvSpPr>
                <p:cNvPr id="20" name="Teardrop 19">
                  <a:extLst>
                    <a:ext uri="{FF2B5EF4-FFF2-40B4-BE49-F238E27FC236}">
                      <a16:creationId xmlns:a16="http://schemas.microsoft.com/office/drawing/2014/main" id="{BEA65F50-B08B-67F7-95D8-23DD8C6BF811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" name="Teardrop 20">
                  <a:extLst>
                    <a:ext uri="{FF2B5EF4-FFF2-40B4-BE49-F238E27FC236}">
                      <a16:creationId xmlns:a16="http://schemas.microsoft.com/office/drawing/2014/main" id="{496870C2-6BA7-79D9-1045-A672C3143C16}"/>
                    </a:ext>
                  </a:extLst>
                </p:cNvPr>
                <p:cNvSpPr/>
                <p:nvPr/>
              </p:nvSpPr>
              <p:spPr>
                <a:xfrm rot="18671431">
                  <a:off x="1618669" y="3891438"/>
                  <a:ext cx="1411878" cy="1454406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Teardrop 21">
                  <a:extLst>
                    <a:ext uri="{FF2B5EF4-FFF2-40B4-BE49-F238E27FC236}">
                      <a16:creationId xmlns:a16="http://schemas.microsoft.com/office/drawing/2014/main" id="{6747C9FE-557B-85CD-0B48-CE952DF7074A}"/>
                    </a:ext>
                  </a:extLst>
                </p:cNvPr>
                <p:cNvSpPr/>
                <p:nvPr/>
              </p:nvSpPr>
              <p:spPr>
                <a:xfrm rot="13247941">
                  <a:off x="2707960" y="2405535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3" name="Teardrop 22">
                  <a:extLst>
                    <a:ext uri="{FF2B5EF4-FFF2-40B4-BE49-F238E27FC236}">
                      <a16:creationId xmlns:a16="http://schemas.microsoft.com/office/drawing/2014/main" id="{C3954EFC-5DBA-38CA-B5F6-9BFB1E372845}"/>
                    </a:ext>
                  </a:extLst>
                </p:cNvPr>
                <p:cNvSpPr/>
                <p:nvPr/>
              </p:nvSpPr>
              <p:spPr>
                <a:xfrm rot="2425688">
                  <a:off x="-207380" y="2697845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469772F-AE12-A73F-F6F5-779C3902DB94}"/>
                  </a:ext>
                </a:extLst>
              </p:cNvPr>
              <p:cNvSpPr/>
              <p:nvPr/>
            </p:nvSpPr>
            <p:spPr>
              <a:xfrm>
                <a:off x="5372754" y="6779692"/>
                <a:ext cx="1376219" cy="1343890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3D4EB6-F42A-66AB-D6F7-150866FFF987}"/>
                </a:ext>
              </a:extLst>
            </p:cNvPr>
            <p:cNvSpPr txBox="1"/>
            <p:nvPr/>
          </p:nvSpPr>
          <p:spPr>
            <a:xfrm>
              <a:off x="4868187" y="4915070"/>
              <a:ext cx="256628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DashBoards</a:t>
              </a:r>
              <a:r>
                <a:rPr 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of Ecommerce Analysis</a:t>
              </a:r>
              <a:endPara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1BDA16C-0E22-2762-C919-50E601707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21" y="133165"/>
            <a:ext cx="3430751" cy="176665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081068-A4B4-08A6-B0EA-9B51AE544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56" y="1029250"/>
            <a:ext cx="2381355" cy="86169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EB8199C-6BC7-8A91-51B9-3173DB858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017" y="106533"/>
            <a:ext cx="2370339" cy="89664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0D2CE1-CC75-9888-994D-BA27A09B0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539" y="1926416"/>
            <a:ext cx="3471169" cy="1864349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1CC76CA-C040-5AB3-003D-123D88B578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417" y="106882"/>
            <a:ext cx="3630968" cy="177518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0AA2522-039B-129F-844B-E7F34477A3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7221" y="1926453"/>
            <a:ext cx="3329126" cy="1864311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22E3601-F3B0-0F1E-5F79-476B9313A1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2977" y="1918439"/>
            <a:ext cx="2650363" cy="1872325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38739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7983CBB6-B528-B75E-D5FC-DF30A799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2AAE52A-CD5F-7E63-732A-421B3EE96E4E}"/>
              </a:ext>
            </a:extLst>
          </p:cNvPr>
          <p:cNvGrpSpPr/>
          <p:nvPr/>
        </p:nvGrpSpPr>
        <p:grpSpPr>
          <a:xfrm>
            <a:off x="-195310" y="-248573"/>
            <a:ext cx="12570784" cy="12946681"/>
            <a:chOff x="-168677" y="-301839"/>
            <a:chExt cx="12570784" cy="1294668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9E478C0-F39E-314B-E354-B9C4B3B4B358}"/>
                </a:ext>
              </a:extLst>
            </p:cNvPr>
            <p:cNvGrpSpPr/>
            <p:nvPr/>
          </p:nvGrpSpPr>
          <p:grpSpPr>
            <a:xfrm rot="5400000">
              <a:off x="-356626" y="-113890"/>
              <a:ext cx="12946681" cy="12570784"/>
              <a:chOff x="-1745094" y="1369716"/>
              <a:chExt cx="12946681" cy="1257078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B7A7A3D-76BD-BB17-E1D2-4EF973D54F2C}"/>
                  </a:ext>
                </a:extLst>
              </p:cNvPr>
              <p:cNvGrpSpPr/>
              <p:nvPr/>
            </p:nvGrpSpPr>
            <p:grpSpPr>
              <a:xfrm rot="5400000">
                <a:off x="1719708" y="3281136"/>
                <a:ext cx="10353098" cy="8610661"/>
                <a:chOff x="-207380" y="1122177"/>
                <a:chExt cx="5049300" cy="4202403"/>
              </a:xfrm>
            </p:grpSpPr>
            <p:sp>
              <p:nvSpPr>
                <p:cNvPr id="20" name="Teardrop 19">
                  <a:extLst>
                    <a:ext uri="{FF2B5EF4-FFF2-40B4-BE49-F238E27FC236}">
                      <a16:creationId xmlns:a16="http://schemas.microsoft.com/office/drawing/2014/main" id="{4488B378-CCC6-EFA0-EFD5-D7B35D587215}"/>
                    </a:ext>
                  </a:extLst>
                </p:cNvPr>
                <p:cNvSpPr/>
                <p:nvPr/>
              </p:nvSpPr>
              <p:spPr>
                <a:xfrm rot="7842137">
                  <a:off x="1143342" y="1137917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1" name="Teardrop 20">
                  <a:extLst>
                    <a:ext uri="{FF2B5EF4-FFF2-40B4-BE49-F238E27FC236}">
                      <a16:creationId xmlns:a16="http://schemas.microsoft.com/office/drawing/2014/main" id="{AF04D824-035E-94DB-C4FE-B6D918727490}"/>
                    </a:ext>
                  </a:extLst>
                </p:cNvPr>
                <p:cNvSpPr/>
                <p:nvPr/>
              </p:nvSpPr>
              <p:spPr>
                <a:xfrm rot="18671431">
                  <a:off x="1618669" y="3891438"/>
                  <a:ext cx="1411878" cy="1454406"/>
                </a:xfrm>
                <a:prstGeom prst="teardrop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Teardrop 21">
                  <a:extLst>
                    <a:ext uri="{FF2B5EF4-FFF2-40B4-BE49-F238E27FC236}">
                      <a16:creationId xmlns:a16="http://schemas.microsoft.com/office/drawing/2014/main" id="{47B08C37-5253-74BC-1DB9-39D0A8B74ECF}"/>
                    </a:ext>
                  </a:extLst>
                </p:cNvPr>
                <p:cNvSpPr/>
                <p:nvPr/>
              </p:nvSpPr>
              <p:spPr>
                <a:xfrm rot="13247941">
                  <a:off x="2707960" y="2405536"/>
                  <a:ext cx="2133960" cy="2162684"/>
                </a:xfrm>
                <a:prstGeom prst="teardrop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3" name="Teardrop 22">
                  <a:extLst>
                    <a:ext uri="{FF2B5EF4-FFF2-40B4-BE49-F238E27FC236}">
                      <a16:creationId xmlns:a16="http://schemas.microsoft.com/office/drawing/2014/main" id="{A9D6E4AB-9548-1A27-1E41-DB5D06B409FD}"/>
                    </a:ext>
                  </a:extLst>
                </p:cNvPr>
                <p:cNvSpPr/>
                <p:nvPr/>
              </p:nvSpPr>
              <p:spPr>
                <a:xfrm rot="2425688">
                  <a:off x="-207380" y="2697845"/>
                  <a:ext cx="2028239" cy="1996760"/>
                </a:xfrm>
                <a:prstGeom prst="teardrop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EED6FC0-36BA-73A4-3521-BF5AF11D572F}"/>
                  </a:ext>
                </a:extLst>
              </p:cNvPr>
              <p:cNvSpPr/>
              <p:nvPr/>
            </p:nvSpPr>
            <p:spPr>
              <a:xfrm>
                <a:off x="-1745094" y="1369716"/>
                <a:ext cx="8494067" cy="12570784"/>
              </a:xfrm>
              <a:prstGeom prst="ellipse">
                <a:avLst/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88AF9F-3E56-5A26-A70C-B9B0A2F907FF}"/>
                </a:ext>
              </a:extLst>
            </p:cNvPr>
            <p:cNvSpPr txBox="1"/>
            <p:nvPr/>
          </p:nvSpPr>
          <p:spPr>
            <a:xfrm>
              <a:off x="4868187" y="4915070"/>
              <a:ext cx="25662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B6F587-4EB1-72B5-7A53-5883600A6409}"/>
              </a:ext>
            </a:extLst>
          </p:cNvPr>
          <p:cNvSpPr txBox="1"/>
          <p:nvPr/>
        </p:nvSpPr>
        <p:spPr>
          <a:xfrm>
            <a:off x="2148396" y="1670350"/>
            <a:ext cx="8300622" cy="402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1. Logistics Drives Loyalty: Fast shipping directly correlates with 5-star reviews. Reducing shipping times below the 11-day average is critical.</a:t>
            </a: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2. Strategic Marketing: With 77.2% of payments occurring on weekdays, promotional spend should be heavily targeted Monday through Friday.</a:t>
            </a: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3. Dashboard Impact: Utilizing Excel, Tableau, and Power BI transformed raw tables into a roadmap, proving that data visibility is the first step toward scalable profitability.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AE2CB-6822-2213-9723-ADEC53159257}"/>
              </a:ext>
            </a:extLst>
          </p:cNvPr>
          <p:cNvSpPr txBox="1"/>
          <p:nvPr/>
        </p:nvSpPr>
        <p:spPr>
          <a:xfrm>
            <a:off x="2525696" y="640663"/>
            <a:ext cx="68402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Key Takeaways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14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38000"/>
          </a:schemeClr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1351B528-C69B-68CB-0C32-0D20DB7F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D0ACF3E-2E50-B069-7591-45B7EF9A4607}"/>
              </a:ext>
            </a:extLst>
          </p:cNvPr>
          <p:cNvGrpSpPr/>
          <p:nvPr/>
        </p:nvGrpSpPr>
        <p:grpSpPr>
          <a:xfrm rot="5400000">
            <a:off x="1880028" y="3162960"/>
            <a:ext cx="8610661" cy="10353098"/>
            <a:chOff x="2590925" y="2409918"/>
            <a:chExt cx="8610661" cy="1035309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1BB353-6A47-E051-FC84-A8D08220D0B0}"/>
                </a:ext>
              </a:extLst>
            </p:cNvPr>
            <p:cNvGrpSpPr/>
            <p:nvPr/>
          </p:nvGrpSpPr>
          <p:grpSpPr>
            <a:xfrm rot="5400000">
              <a:off x="1719707" y="3281136"/>
              <a:ext cx="10353098" cy="8610661"/>
              <a:chOff x="-207380" y="1122177"/>
              <a:chExt cx="5049300" cy="4202403"/>
            </a:xfrm>
          </p:grpSpPr>
          <p:sp>
            <p:nvSpPr>
              <p:cNvPr id="20" name="Teardrop 19">
                <a:extLst>
                  <a:ext uri="{FF2B5EF4-FFF2-40B4-BE49-F238E27FC236}">
                    <a16:creationId xmlns:a16="http://schemas.microsoft.com/office/drawing/2014/main" id="{BEA65F50-B08B-67F7-95D8-23DD8C6BF811}"/>
                  </a:ext>
                </a:extLst>
              </p:cNvPr>
              <p:cNvSpPr/>
              <p:nvPr/>
            </p:nvSpPr>
            <p:spPr>
              <a:xfrm rot="7842137">
                <a:off x="1143342" y="1137917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" name="Teardrop 20">
                <a:extLst>
                  <a:ext uri="{FF2B5EF4-FFF2-40B4-BE49-F238E27FC236}">
                    <a16:creationId xmlns:a16="http://schemas.microsoft.com/office/drawing/2014/main" id="{496870C2-6BA7-79D9-1045-A672C3143C16}"/>
                  </a:ext>
                </a:extLst>
              </p:cNvPr>
              <p:cNvSpPr/>
              <p:nvPr/>
            </p:nvSpPr>
            <p:spPr>
              <a:xfrm rot="18671431">
                <a:off x="1618669" y="3891438"/>
                <a:ext cx="1411878" cy="1454406"/>
              </a:xfrm>
              <a:prstGeom prst="teardrop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Teardrop 21">
                <a:extLst>
                  <a:ext uri="{FF2B5EF4-FFF2-40B4-BE49-F238E27FC236}">
                    <a16:creationId xmlns:a16="http://schemas.microsoft.com/office/drawing/2014/main" id="{6747C9FE-557B-85CD-0B48-CE952DF7074A}"/>
                  </a:ext>
                </a:extLst>
              </p:cNvPr>
              <p:cNvSpPr/>
              <p:nvPr/>
            </p:nvSpPr>
            <p:spPr>
              <a:xfrm rot="13247941">
                <a:off x="2707960" y="2405535"/>
                <a:ext cx="2133960" cy="2162684"/>
              </a:xfrm>
              <a:prstGeom prst="teardrop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Teardrop 22">
                <a:extLst>
                  <a:ext uri="{FF2B5EF4-FFF2-40B4-BE49-F238E27FC236}">
                    <a16:creationId xmlns:a16="http://schemas.microsoft.com/office/drawing/2014/main" id="{C3954EFC-5DBA-38CA-B5F6-9BFB1E372845}"/>
                  </a:ext>
                </a:extLst>
              </p:cNvPr>
              <p:cNvSpPr/>
              <p:nvPr/>
            </p:nvSpPr>
            <p:spPr>
              <a:xfrm rot="2425688">
                <a:off x="-207380" y="2697845"/>
                <a:ext cx="2028239" cy="1996760"/>
              </a:xfrm>
              <a:prstGeom prst="teardrop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469772F-AE12-A73F-F6F5-779C3902DB94}"/>
                </a:ext>
              </a:extLst>
            </p:cNvPr>
            <p:cNvSpPr/>
            <p:nvPr/>
          </p:nvSpPr>
          <p:spPr>
            <a:xfrm>
              <a:off x="5372754" y="6779692"/>
              <a:ext cx="1376219" cy="1343890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48A416B-69F6-E95E-C1BE-3B77694DEF4E}"/>
              </a:ext>
            </a:extLst>
          </p:cNvPr>
          <p:cNvSpPr txBox="1"/>
          <p:nvPr/>
        </p:nvSpPr>
        <p:spPr>
          <a:xfrm>
            <a:off x="2750190" y="1398849"/>
            <a:ext cx="6840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9537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THANK YOU </a:t>
            </a:r>
            <a:endParaRPr lang="en-US" sz="4800" dirty="0">
              <a:solidFill>
                <a:srgbClr val="95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A416B-69F6-E95E-C1BE-3B77694DEF4E}"/>
              </a:ext>
            </a:extLst>
          </p:cNvPr>
          <p:cNvSpPr txBox="1"/>
          <p:nvPr/>
        </p:nvSpPr>
        <p:spPr>
          <a:xfrm>
            <a:off x="1156128" y="2290596"/>
            <a:ext cx="100283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Presented By 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Karan </a:t>
            </a:r>
            <a:r>
              <a:rPr lang="en-US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Shubham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Abhinay</a:t>
            </a:r>
            <a:endParaRPr lang="en-US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Hemasree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 Sneha </a:t>
            </a:r>
            <a:r>
              <a:rPr lang="en-US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Mounika</a:t>
            </a: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Janhavi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70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10476</TotalTime>
  <Words>287</Words>
  <Application>Microsoft Office PowerPoint</Application>
  <PresentationFormat>Widescreen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Lato</vt:lpstr>
      <vt:lpstr>Times New Roman</vt:lpstr>
      <vt:lpstr>Arial Black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geethema</dc:creator>
  <cp:lastModifiedBy>Sneha</cp:lastModifiedBy>
  <cp:revision>12</cp:revision>
  <dcterms:modified xsi:type="dcterms:W3CDTF">2026-05-28T15:06:10Z</dcterms:modified>
</cp:coreProperties>
</file>